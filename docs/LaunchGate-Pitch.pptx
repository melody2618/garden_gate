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Where the 12 handoffs go (internal data, low risk)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Handoffs</c:v>
                </c:pt>
              </c:strCache>
            </c:strRef>
          </c:tx>
          <c:spPr>
            <a:solidFill>
              <a:srgbClr val="2ED5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D5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8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79E1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Automated</c:v>
                  </c:pt>
                  <c:pt idx="1">
                    <c:v>Merged into request</c:v>
                  </c:pt>
                  <c:pt idx="2">
                    <c:v>Kept human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BD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B0D"/>
        </a:solidFill>
        <a:ln>
          <a:noFill/>
        </a:ln>
        <a:effectLst/>
      </c:spPr>
    </c:plotArea>
    <c:plotVisOnly val="1"/>
    <c:dispBlanksAs val="span"/>
  </c:chart>
  <c:spPr>
    <a:solidFill>
      <a:srgbClr val="0B0B0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8"/>
                </a:solidFill>
              </a:rPr>
              <a:t>LaunchGate  ·  Team Garden State  ·  LEAD ASPIRE 2026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75320" y="4759452"/>
            <a:ext cx="201168" cy="201168"/>
          </a:xfrm>
          <a:prstGeom prst="rect">
            <a:avLst>
              <a:gd name="adj" fmla="val 50000"/>
            </a:avLst>
          </a:prstGeom>
          <a:solidFill>
            <a:srgbClr val="EB001B"/>
          </a:solidFill>
          <a:ln/>
        </p:spPr>
      </p:sp>
      <p:sp>
        <p:nvSpPr>
          <p:cNvPr id="4" name="Shape 2"/>
          <p:cNvSpPr/>
          <p:nvPr/>
        </p:nvSpPr>
        <p:spPr>
          <a:xfrm>
            <a:off x="8394192" y="4759452"/>
            <a:ext cx="201168" cy="201168"/>
          </a:xfrm>
          <a:prstGeom prst="rect">
            <a:avLst>
              <a:gd name="adj" fmla="val 50000"/>
            </a:avLst>
          </a:prstGeom>
          <a:solidFill>
            <a:srgbClr val="F79E1B">
              <a:alpha val="9000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377440" cy="2377440"/>
          </a:xfrm>
          <a:prstGeom prst="ellipse">
            <a:avLst/>
          </a:prstGeom>
          <a:solidFill>
            <a:srgbClr val="EB001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822960"/>
            <a:ext cx="2377440" cy="2377440"/>
          </a:xfrm>
          <a:prstGeom prst="ellipse">
            <a:avLst/>
          </a:prstGeom>
          <a:solidFill>
            <a:srgbClr val="F79E1B">
              <a:alpha val="9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LEAD ASPIRE 2026  ·  MICROSOFT TIMES SQUARE  ·  TEAM GARDEN STATE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LaunchGate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BD3"/>
                </a:solidFill>
              </a:rPr>
              <a:t>Give Mastercard's own engineers the promise it already makes to partners.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9E1B"/>
                </a:solidFill>
              </a:rPr>
              <a:t>A policy-aware deployment control plane. Agents prepare. Rules decide. People approve.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8"/>
                </a:solidFill>
              </a:rPr>
              <a:t>Customer: Mastercard   ·   Consulting partner: EY   ·   Built on Microsoft Azure and GitHub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THE HOOK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Money moves in under a second. Ideas wait eight months.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46120" y="13258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13258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F1414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08760"/>
            <a:ext cx="566928" cy="56692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84048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0" y="1508760"/>
            <a:ext cx="566928" cy="56692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00200"/>
            <a:ext cx="384048" cy="3840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508760"/>
            <a:ext cx="566928" cy="56692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724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79E1B"/>
                </a:solidFill>
              </a:rPr>
              <a:t>&lt; 1 second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2907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BD3"/>
                </a:solidFill>
              </a:rPr>
              <a:t>to authorize a cardholder's transaction, billions of times a year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56616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79E1B"/>
                </a:solidFill>
              </a:rPr>
              <a:t>15 days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3566160" y="2907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BD3"/>
                </a:solidFill>
              </a:rPr>
              <a:t>Product Express promise to fintechs: a card program live, status visible to every party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B001B"/>
                </a:solidFill>
              </a:rPr>
              <a:t>6 to 8 months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907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BD3"/>
                </a:solidFill>
              </a:rPr>
              <a:t>12 handoffs before an internal team can start building. Reported in Discovery.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Same company. Same guardrails. The difference is whether the path is designed or inherited.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4851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D98"/>
                </a:solidFill>
              </a:rPr>
              <a:t>Product Express: mastercard.com (15 days after due diligence and contract) · Discovery with Mastercard Business Development, 12 Oct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TEAM GARDEN STATE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Five builders, one brief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754880" cy="512064"/>
          </a:xfrm>
          <a:prstGeom prst="roundRect">
            <a:avLst>
              <a:gd name="adj" fmla="val 2142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329184" cy="329184"/>
          </a:xfrm>
          <a:prstGeom prst="ellipse">
            <a:avLst/>
          </a:prstGeom>
          <a:solidFill>
            <a:srgbClr val="EB00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2344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Azra Bano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538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Engagement lead · API, rules and readiness model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4754880" cy="512064"/>
          </a:xfrm>
          <a:prstGeom prst="roundRect">
            <a:avLst>
              <a:gd name="adj" fmla="val 2142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83664"/>
            <a:ext cx="329184" cy="329184"/>
          </a:xfrm>
          <a:prstGeom prst="ellipse">
            <a:avLst/>
          </a:prstGeom>
          <a:solidFill>
            <a:srgbClr val="F79E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18379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Melanie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0574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Product and front end · portal and Vercel deployment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4754880" cy="512064"/>
          </a:xfrm>
          <a:prstGeom prst="roundRect">
            <a:avLst>
              <a:gd name="adj" fmla="val 2142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487168"/>
            <a:ext cx="329184" cy="329184"/>
          </a:xfrm>
          <a:prstGeom prst="ellipse">
            <a:avLst/>
          </a:prstGeom>
          <a:solidFill>
            <a:srgbClr val="EB001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24414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Jayden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6609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Cloud · Azure Static Web Apps and delivery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4754880" cy="512064"/>
          </a:xfrm>
          <a:prstGeom prst="roundRect">
            <a:avLst>
              <a:gd name="adj" fmla="val 2142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90672"/>
            <a:ext cx="329184" cy="329184"/>
          </a:xfrm>
          <a:prstGeom prst="ellipse">
            <a:avLst/>
          </a:prstGeom>
          <a:solidFill>
            <a:srgbClr val="F79E1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30449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Adrian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2644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AI · Azure AI Foundry agent, risk memo, Bicep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4754880" cy="512064"/>
          </a:xfrm>
          <a:prstGeom prst="roundRect">
            <a:avLst>
              <a:gd name="adj" fmla="val 2142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694176"/>
            <a:ext cx="329184" cy="329184"/>
          </a:xfrm>
          <a:prstGeom prst="ellipse">
            <a:avLst/>
          </a:prstGeom>
          <a:solidFill>
            <a:srgbClr val="EB00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36484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[Name 5]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8679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[Role]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0" y="1188720"/>
            <a:ext cx="3200400" cy="2980944"/>
          </a:xfrm>
          <a:prstGeom prst="roundRect">
            <a:avLst>
              <a:gd name="adj" fmla="val 3681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12984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79E1B"/>
                </a:solidFill>
              </a:rPr>
              <a:t>WHERE WE HAVE WORKED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0" y="16459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1645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1]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16459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0" y="1645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2]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246888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0" y="2468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3]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32320" y="246888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0" y="2468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4]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32918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0" y="3291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5]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32320" y="32918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0" y="3291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D98"/>
                </a:solidFill>
              </a:rPr>
              <a:t>[Logo 6]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0" y="41148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8"/>
                </a:solidFill>
              </a:rPr>
              <a:t>Replace with employer or university logos (two per row).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THE PROBLEM, IN MASTERCARD'S NUMBERS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Compliance is re-proven by hand, twelve times in a row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EB001B"/>
                </a:solidFill>
              </a:rPr>
              <a:t>12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019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BD3"/>
                </a:solidFill>
              </a:rPr>
              <a:t>handoffs to get a development environment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188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EB001B"/>
                </a:solidFill>
              </a:rPr>
              <a:t>6 to 8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9019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BD3"/>
                </a:solidFill>
              </a:rPr>
              <a:t>months from request to a usable environment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188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79E1B"/>
                </a:solidFill>
              </a:rPr>
              <a:t>1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901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BD3"/>
                </a:solidFill>
              </a:rPr>
              <a:t>handoff is the ideal state, in the customer's words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188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79E1B"/>
                </a:solidFill>
              </a:rPr>
              <a:t>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901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BD3"/>
                </a:solidFill>
              </a:rPr>
              <a:t>tolerance for skipping a guardrail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34640"/>
            <a:ext cx="475488" cy="47548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40080" y="3337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"Deployment is not enough. It also includes policy and orchestration."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46120" y="27432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37560" y="2834640"/>
            <a:ext cx="475488" cy="47548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92608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429000" y="3337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"Redo the whole process if someone leaves the company."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35040" y="27432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26480" y="2834640"/>
            <a:ext cx="475488" cy="47548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926080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217920" y="3337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"Security guardrails. We can't come up with an idea and just ship it out."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4851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D98"/>
                </a:solidFill>
              </a:rPr>
              <a:t>Discovery interview with Maria, Business Development, Mastercard, 12 Oct 2026. The 6 to 8 month figure is treated as the end-to-end readiness cycle, to confirm in a pilot.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VALIDATED OUTSIDE THE ROOM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Approval chains, not servers, are the delay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69080" cy="13716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9E1B"/>
                </a:solidFill>
              </a:rPr>
              <a:t>78%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of engineering teams wait a day or more for DevOps help; 16% wait a week or more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98"/>
                </a:solidFill>
              </a:rPr>
              <a:t>Port, State of Internal Developer Portals 2025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69080" cy="13716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9E1B"/>
                </a:solidFill>
              </a:rPr>
              <a:t>81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steps, 3 tickets and a change request to ship one line of code at Morgan Stanley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98"/>
                </a:solidFill>
              </a:rPr>
              <a:t>Team Topologies, Jan 2026 (Gus Paul, Morgan Stanley)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069080" cy="13716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834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9E1B"/>
                </a:solidFill>
              </a:rPr>
              <a:t>90%+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of major changes approved by change boards; some firms rejected none all year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98"/>
                </a:solidFill>
              </a:rPr>
              <a:t>UK FCA, Implementing Technology Change, 2021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2697480"/>
            <a:ext cx="4069080" cy="13716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2834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9E1B"/>
                </a:solidFill>
              </a:rPr>
              <a:t>58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working days per quarter spent on compliance audits; 3 days per evidence request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98"/>
                </a:solidFill>
              </a:rPr>
              <a:t>Telos / Vanson Bourne survey, 2020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851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D98"/>
                </a:solidFill>
              </a:rPr>
              <a:t>Gartner: 80% of large software engineering organizations will have platform engineering teams by 2026.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WHAT COMPETITORS AND PEERS ALREADY DID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Regulated banks fixed this with policy as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BD3"/>
                </a:solidFill>
              </a:rPr>
              <a:t>Capital 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276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79E1B"/>
                </a:solidFill>
              </a:rPr>
              <a:t>3 months → minutes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774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average development environment build time; built Cloud Custodian because every new cloud service needed its certs signed off by hand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D98"/>
                </a:solidFill>
              </a:rPr>
              <a:t>AWS case study; InfoWorld 2024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24912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BD3"/>
                </a:solidFill>
              </a:rPr>
              <a:t>JPMorgan Chase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16276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79E1B"/>
                </a:solidFill>
              </a:rPr>
              <a:t>6 to 18 months → codified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3774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 cloud service approval before controls became standard questions, Terraform and tests; TrueCD targets any change live in under an hour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D98"/>
                </a:solidFill>
              </a:rPr>
              <a:t>FINOS 2019; VentureBeat 2025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BD3"/>
                </a:solidFill>
              </a:rPr>
              <a:t>Visa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16276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79E1B"/>
                </a:solidFill>
              </a:rPr>
              <a:t>4 weeks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23774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Fintech Fast Track onboarding by reducing onboarding conditions; Trusted Agent Protocol for agentic commerce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D98"/>
                </a:solidFill>
              </a:rPr>
              <a:t>Visa newsroom 2018, 2025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66560" y="118872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31152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BD3"/>
                </a:solidFill>
              </a:rPr>
              <a:t>Deutsche Bank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16276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79E1B"/>
                </a:solidFill>
              </a:rPr>
              <a:t>350+ policies as code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23774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3,000+ developers consuming cloud autonomously, 500,000+ Terraform runs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D98"/>
                </a:solidFill>
              </a:rPr>
              <a:t>HashiCorp case study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851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D98"/>
                </a:solidFill>
              </a:rPr>
              <a:t>Amex: new platforms enter a Landing Zone then a Target Zone with enterprise controls as code (americanexpress.io, Sep 2026).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Mastercard already runs this model. Just not for itself.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69080" cy="2834640"/>
          </a:xfrm>
          <a:prstGeom prst="roundRect">
            <a:avLst>
              <a:gd name="adj" fmla="val 3871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188720"/>
            <a:ext cx="4069080" cy="2834640"/>
          </a:xfrm>
          <a:prstGeom prst="roundRect">
            <a:avLst>
              <a:gd name="adj" fmla="val 3871"/>
            </a:avLst>
          </a:prstGeom>
          <a:solidFill>
            <a:srgbClr val="1F1414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566928" cy="56692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84048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1325880"/>
            <a:ext cx="566928" cy="56692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Externally: Product Express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0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Internally: twelve handoffs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BD3"/>
                </a:solidFill>
              </a:rPr>
              <a:t>One governed request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BD3"/>
                </a:solidFill>
              </a:rPr>
              <a:t>Pre-certified partners, fewer onboarding conditions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BD3"/>
                </a:solidFill>
              </a:rPr>
              <a:t>Status visible to all parties, across all phases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BD3"/>
                </a:solidFill>
              </a:rPr>
              <a:t>Card program live in as fast as 15 days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BD3"/>
                </a:solidFill>
              </a:rPr>
              <a:t>Twelve people, in sequence, each re-checking policy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BD3"/>
                </a:solidFill>
              </a:rPr>
              <a:t>Knowledge lives in people; attrition restarts the chain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BD3"/>
                </a:solidFill>
              </a:rPr>
              <a:t>No single view of what is blocking a program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BD3"/>
                </a:solidFill>
              </a:rPr>
              <a:t>6 to 8 months before a partner program can start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9E1B"/>
                </a:solidFill>
              </a:rPr>
              <a:t>"Trust cannot be implied. It must be proven."  Mastercard, Verifiable Intent, March 2026. We apply the same standard to infrastructure changes.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OUR SOLUTION: LAUNCHGATE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Agents prepare. Rules decide. People approve.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554480" cy="2514600"/>
          </a:xfrm>
          <a:prstGeom prst="roundRect">
            <a:avLst>
              <a:gd name="adj" fmla="val 705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011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  Ask once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359152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A business owner or engineer answers a few plain questions. Secure defaults applied.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975104" y="2240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79E1B"/>
                </a:solidFill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139696" y="1234440"/>
            <a:ext cx="1554480" cy="2514600"/>
          </a:xfrm>
          <a:prstGeom prst="roundRect">
            <a:avLst>
              <a:gd name="adj" fmla="val 705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31136" y="1325880"/>
            <a:ext cx="548640" cy="548640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6" y="1417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76856" y="2011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 Rules decide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2359152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A deterministic readiness model scores risk; every rule names the control it cites and the fix.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2240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79E1B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3822192" y="1234440"/>
            <a:ext cx="1554480" cy="2514600"/>
          </a:xfrm>
          <a:prstGeom prst="roundRect">
            <a:avLst>
              <a:gd name="adj" fmla="val 705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913632" y="1325880"/>
            <a:ext cx="548640" cy="548640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14173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59352" y="2011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 Agent prepares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959352" y="2359152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Azure AI Foundry agent on an open model drafts the Bicep and a risk memo. Read-only.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5340096" y="2240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79E1B"/>
                </a:solidFill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5504688" y="1234440"/>
            <a:ext cx="1554480" cy="2514600"/>
          </a:xfrm>
          <a:prstGeom prst="roundRect">
            <a:avLst>
              <a:gd name="adj" fmla="val 705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596128" y="1325880"/>
            <a:ext cx="548640" cy="548640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14173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41848" y="2011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 People approve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641848" y="2359152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Only the approvals that must stay human, in parallel. A GitHub gate enforces it.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7022592" y="2240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79E1B"/>
                </a:solidFill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7187184" y="1234440"/>
            <a:ext cx="1554480" cy="2514600"/>
          </a:xfrm>
          <a:prstGeom prst="roundRect">
            <a:avLst>
              <a:gd name="adj" fmla="val 705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278624" y="1325880"/>
            <a:ext cx="548640" cy="548640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141732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24344" y="2011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 Everything logged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324344" y="2359152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BD3"/>
                </a:solidFill>
              </a:rPr>
              <a:t>Append-only audit trail; the evidence pack a partner bank asks for is already written.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Twelve handoffs become one request plus one or two human approvals. Eight steps automated, three merged into the request. Nothing deploys without a person.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Partner program to governed go-live, in minutes</a:t>
            </a:r>
            <a:endParaRPr lang="en-US" sz="2800" dirty="0"/>
          </a:p>
        </p:txBody>
      </p:sp>
      <p:pic>
        <p:nvPicPr>
          <p:cNvPr id="4" name="Image 0" descr="04-owner-out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69080" cy="2432304"/>
          </a:xfrm>
          <a:prstGeom prst="rect">
            <a:avLst/>
          </a:prstGeom>
        </p:spPr>
      </p:pic>
      <p:pic>
        <p:nvPicPr>
          <p:cNvPr id="5" name="Image 1" descr="05-blocked-expl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88720"/>
            <a:ext cx="4069080" cy="243230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703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BD3"/>
                </a:solidFill>
              </a:rPr>
              <a:t>Business owner view: today versus LaunchGate, risk tier, who must approve, and what has to be true.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617720" y="3703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BD3"/>
                </a:solidFill>
              </a:rPr>
              <a:t>Misconfigured program: blocked with the exact rules and controls, and the Foundry agent explains the fix.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9E1B"/>
                </a:solidFill>
              </a:rPr>
              <a:t>Scenarios: fintech card program · Agent Pay airline integration · internal service · misconfigured program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UNDER THE HOOD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transparent model sets the human review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188720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83480" y="12435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9E1B"/>
                </a:solidFill>
              </a:rPr>
              <a:t>Readiness model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983480" y="14630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Six weighted factors (data class, exposure, credentials, residency, transport, observability) give a 0 to 100 score and a tier. Every point is auditable.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846320" y="1938528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83480" y="19933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9E1B"/>
                </a:solidFill>
              </a:rPr>
              <a:t>Rule engine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983480" y="22128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Ten rules as code in the Azure Policy schema. Same input, same result. Each cites PCI DSS 4.0.1, NIST 800-53, CIS Azure or a Mastercard standard.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46320" y="2688336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27432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9E1B"/>
                </a:solidFill>
              </a:rPr>
              <a:t>Foundry agent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29626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Open model (Phi-4) on Azure AI Foundry writes the risk memo and answers "why am I blocked". It cannot approve or deploy.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46320" y="3438144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83480" y="34930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9E1B"/>
                </a:solidFill>
              </a:rPr>
              <a:t>Agent Pay pack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983480" y="371246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Verifiable Intent audit trail required; agent governance review added as a thirteenth, human, step.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SECURITY AND RESPONSIBLE AI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Zero Trust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61872"/>
            <a:ext cx="475488" cy="47548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Identity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Roles from Microsoft Entra ID. Requester, security, platform, compliance. A requester can never approve their own request.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19272" y="1261872"/>
            <a:ext cx="475488" cy="47548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35331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8620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Secrets and data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410712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No stored credentials: managed identity and DefaultAzureCredential. Synthetic data only; no cardholder data enters LaunchGate. Purview labels pick the rule pack.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08192" y="1261872"/>
            <a:ext cx="475488" cy="47548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5331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7512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Observability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199632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Append-only audit of every transition, actor and rule, with export. No secrets in logs. Defender for Cloud scores the deployed environment.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2697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2770632"/>
            <a:ext cx="475488" cy="47548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86207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728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guardrails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621792" y="3246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Agent is read-only, grounded on the request and rule results, refuses off-topic questions, cites rule IDs. Deterministic fallback if the model is down.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46120" y="2697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319272" y="2770632"/>
            <a:ext cx="475488" cy="47548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286207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88620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Human accountability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3410712" y="3246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Pass or fail comes from versioned rules, never a model. Only humans approve. Only approved requests can deploy; a GitHub environment rule enforces it.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35040" y="2697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08192" y="2770632"/>
            <a:ext cx="475488" cy="47548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286207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67512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Governance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6199632" y="3246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Rules cite PCI DSS 4.0.1, NYDFS 500, SOX ITGC, NIST 800-53 R5, GLBA. Changing a rule is itself a reviewed change in a pilot.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MICROSOFT TECHNOLOGY, AND HOW WE USED 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 on Azure and GitHub, with Copilot at the keyboard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69080" cy="896112"/>
          </a:xfrm>
          <a:prstGeom prst="roundRect">
            <a:avLst>
              <a:gd name="adj" fmla="val 12245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353312"/>
            <a:ext cx="493776" cy="493776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447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Azure AI Foundry + Azure OpenAI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Agent Service running an open model (Phi-4) for the risk memo and explainer. Swappable to Llama 3.3 or Mistral Large.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4069080" cy="896112"/>
          </a:xfrm>
          <a:prstGeom prst="roundRect">
            <a:avLst>
              <a:gd name="adj" fmla="val 12245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82312" y="1353312"/>
            <a:ext cx="493776" cy="493776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4447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Azure Functions + Static Web Apps + Cosmos DB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Serverless API behind a stateless core, React portal, append-only audit store. Same code also runs on Vercel.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2194560"/>
            <a:ext cx="4069080" cy="896112"/>
          </a:xfrm>
          <a:prstGeom prst="roundRect">
            <a:avLst>
              <a:gd name="adj" fmla="val 12245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0352" y="2359152"/>
            <a:ext cx="493776" cy="493776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4505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Azure Policy + Defender for Cloud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2560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Rule format borrowed from Azure Policy definitions; Defender's regulatory standards (PCI DSS 4, NIST 800-53 R5) for the pilot, including multicloud.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709160" y="2194560"/>
            <a:ext cx="4069080" cy="896112"/>
          </a:xfrm>
          <a:prstGeom prst="roundRect">
            <a:avLst>
              <a:gd name="adj" fmla="val 12245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82312" y="2359152"/>
            <a:ext cx="493776" cy="493776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45059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9496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Microsoft Entra ID + Teams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5394960" y="2560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Role model and separation of duties; adaptive-card approvals and Entra ID Governance access packages in the pilot.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3200400"/>
            <a:ext cx="4069080" cy="896112"/>
          </a:xfrm>
          <a:prstGeom prst="roundRect">
            <a:avLst>
              <a:gd name="adj" fmla="val 12245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3364992"/>
            <a:ext cx="493776" cy="493776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45643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4300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GitHub Copilot, Actions, Advanced Security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3566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Copilot instructions in the repo encode the rule schema; coding agent scaffolded modules; Actions deploy; environment protection rules enforce the human gate.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709160" y="3200400"/>
            <a:ext cx="4069080" cy="896112"/>
          </a:xfrm>
          <a:prstGeom prst="roundRect">
            <a:avLst>
              <a:gd name="adj" fmla="val 12245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82312" y="3364992"/>
            <a:ext cx="493776" cy="493776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45643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9496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Microsoft Fabric + Purview + Azure Deployment Environments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5394960" y="3566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Pilot path: readiness dashboard, sensitivity labels, real governed provisioning from a Bicep catalog.</a:t>
            </a:r>
            <a:endParaRPr lang="en-US" sz="9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4851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D98"/>
                </a:solidFill>
              </a:rPr>
              <a:t>Prototype uses synthetic data. Rules are illustrative and cite public standards; a pilot loads Mastercard's own catalogue into the same schema.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RETURN ON INVESTMENT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Saving money, by Maria's own 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69080" cy="2926080"/>
          </a:xfrm>
          <a:prstGeom prst="roundRect">
            <a:avLst>
              <a:gd name="adj" fmla="val 375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9E1B"/>
                </a:solidFill>
              </a:rPr>
              <a:t>The model, with inputs labelled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CBD3"/>
                </a:solidFill>
              </a:rPr>
              <a:t>Reported: 6 to 8 month cycle, ~12 handoffs per request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CBD3"/>
                </a:solidFill>
              </a:rPr>
              <a:t>Assumed: N programs per year; most of the cycle is waiting, not work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CBD3"/>
                </a:solidFill>
              </a:rPr>
              <a:t>Value per program = months saved × (partner revenue brought forward + reviewer time + engineer idle time)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CBD3"/>
                </a:solidFill>
              </a:rPr>
              <a:t>Illustration: 25 programs/yr × 4 months saved = 100 program-months recovered per year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CBD3"/>
                </a:solidFill>
              </a:rPr>
              <a:t>Industry benchmark for evidence effort: 58 working days per quarter on audits (Telos)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188720"/>
            <a:ext cx="4069080" cy="676656"/>
          </a:xfrm>
          <a:prstGeom prst="roundRect">
            <a:avLst>
              <a:gd name="adj" fmla="val 16216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261872"/>
            <a:ext cx="457200" cy="457200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5331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212080" y="12435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Time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1463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Months of waiting per program become days. Capital One: 3 months to minutes.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0" y="1938528"/>
            <a:ext cx="4069080" cy="676656"/>
          </a:xfrm>
          <a:prstGeom prst="roundRect">
            <a:avLst>
              <a:gd name="adj" fmla="val 16216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2011680"/>
            <a:ext cx="457200" cy="457200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031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12080" y="1993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Cost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212080" y="22128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Repeat reviewer work and idle engineering time removed; evidence written once.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17720" y="2688336"/>
            <a:ext cx="4069080" cy="676656"/>
          </a:xfrm>
          <a:prstGeom prst="roundRect">
            <a:avLst>
              <a:gd name="adj" fmla="val 16216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2761488"/>
            <a:ext cx="457200" cy="457200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85292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12080" y="27432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Revenue timing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5212080" y="29626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Partner programs and Agent Pay integrations go live sooner; BD quotes dates it can keep.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17720" y="3438144"/>
            <a:ext cx="4069080" cy="676656"/>
          </a:xfrm>
          <a:prstGeom prst="roundRect">
            <a:avLst>
              <a:gd name="adj" fmla="val 16216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663440" y="3511296"/>
            <a:ext cx="457200" cy="457200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60273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212080" y="34930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Risk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212080" y="371246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BD3"/>
                </a:solidFill>
              </a:rPr>
              <a:t>Same answer every time, full audit trail, fewer audit findings and no process restart on attrition.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4851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D98"/>
                </a:solidFill>
              </a:rPr>
              <a:t>The prototype counts handoffs removed and minutes per request so a 90-day pilot can price the real savings. Request volume is the first number a pilot confirms.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WHERE IT APPLIES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Start with partner programs, then every change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108960" cy="3108960"/>
          </a:xfrm>
          <a:prstGeom prst="ellipse">
            <a:avLst/>
          </a:prstGeom>
          <a:solidFill>
            <a:srgbClr val="0B0B0D"/>
          </a:solidFill>
          <a:ln w="19050">
            <a:solidFill>
              <a:srgbClr val="C9CB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216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CBD3"/>
                </a:solidFill>
              </a:rPr>
              <a:t>TAM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554480"/>
            <a:ext cx="2286000" cy="2286000"/>
          </a:xfrm>
          <a:prstGeom prst="ellipse">
            <a:avLst/>
          </a:prstGeom>
          <a:solidFill>
            <a:srgbClr val="0B0B0D"/>
          </a:solidFill>
          <a:ln w="19050">
            <a:solidFill>
              <a:srgbClr val="F79E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9E1B"/>
                </a:solidFill>
              </a:rPr>
              <a:t>SAM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1965960"/>
            <a:ext cx="1463040" cy="1463040"/>
          </a:xfrm>
          <a:prstGeom prst="ellipse">
            <a:avLst/>
          </a:prstGeom>
          <a:solidFill>
            <a:srgbClr val="0B0B0D"/>
          </a:solidFill>
          <a:ln w="19050">
            <a:solidFill>
              <a:srgbClr val="EB00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20391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001B"/>
                </a:solidFill>
              </a:rPr>
              <a:t>SOM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1188720"/>
            <a:ext cx="4572000" cy="877824"/>
          </a:xfrm>
          <a:prstGeom prst="roundRect">
            <a:avLst>
              <a:gd name="adj" fmla="val 125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1960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BD3"/>
                </a:solidFill>
              </a:rPr>
              <a:t>TAM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280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Every environment and program change at Mastercard: tens of thousands of workloads on OpenShift, AWS and Azure; every partner launch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0" y="2176272"/>
            <a:ext cx="4572000" cy="877824"/>
          </a:xfrm>
          <a:prstGeom prst="roundRect">
            <a:avLst>
              <a:gd name="adj" fmla="val 125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2249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E1B"/>
                </a:solidFill>
              </a:rPr>
              <a:t>SAM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2677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Partner card programs and Agent Pay integrations in North America: 170+ fintech partners in Engage; Agent Pay to all US cardholders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0" y="3163824"/>
            <a:ext cx="4572000" cy="877824"/>
          </a:xfrm>
          <a:prstGeom prst="roundRect">
            <a:avLst>
              <a:gd name="adj" fmla="val 12500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51960" y="3236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001B"/>
                </a:solidFill>
              </a:rPr>
              <a:t>SOM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25526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90-day pilot: one business unit, the real rule catalogue, Teams approvals, Azure Deployment Environments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851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D98"/>
                </a:solidFill>
              </a:rPr>
              <a:t>Beyond Mastercard: Gartner expects 80% of large engineering organizations to run platform teams by 2026; the same control plane pattern applies to any regulated enterprise.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9E1B"/>
                </a:solidFill>
              </a:rPr>
              <a:t>WHAT HAPPENS NEXT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90-day pilot that measures the real number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E1B"/>
                </a:solidFill>
              </a:rPr>
              <a:t>Days 1 to 30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276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Load Mastercard's rule catalogue into the schema with the Policy Copilot; security owns the rules.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E1B"/>
                </a:solidFill>
              </a:rPr>
              <a:t>Days 31 to 60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276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Entra ID Governance approvals in Teams; GitHub environment gate; Defender for Cloud scoring.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7171C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E1B"/>
                </a:solidFill>
              </a:rPr>
              <a:t>Days 61 to 90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276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provisioning through Azure Deployment Environments; Fabric dashboard reports cycle time per program.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1A1A20"/>
          </a:solidFill>
          <a:ln w="9525">
            <a:solidFill>
              <a:srgbClr val="26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63240"/>
            <a:ext cx="566928" cy="566928"/>
          </a:xfrm>
          <a:prstGeom prst="ellipse">
            <a:avLst/>
          </a:prstGeom>
          <a:solidFill>
            <a:srgbClr val="22222A"/>
          </a:solidFill>
          <a:ln w="6350">
            <a:solidFill>
              <a:srgbClr val="2E2E3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15468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71600" y="3063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ask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36499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BD3"/>
                </a:solidFill>
              </a:rPr>
              <a:t>A sponsor in Business Development and one in Platform Security, one business unit, and the number Discovery could not give us: programs per year. Target in pilot: 12 handoffs to 1 request plus required approvals; readiness from months to days.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1097280" cy="1097280"/>
          </a:xfrm>
          <a:prstGeom prst="ellipse">
            <a:avLst/>
          </a:prstGeom>
          <a:solidFill>
            <a:srgbClr val="EB001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640080"/>
            <a:ext cx="1097280" cy="1097280"/>
          </a:xfrm>
          <a:prstGeom prst="ellipse">
            <a:avLst/>
          </a:prstGeom>
          <a:solidFill>
            <a:srgbClr val="F79E1B">
              <a:alpha val="9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BD3"/>
                </a:solidFill>
              </a:rPr>
              <a:t>Microsoft, for the platform and the room. Mastercard, for a real problem and a straight answer. EY, for making us earn the scope.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9E1B"/>
                </a:solidFill>
              </a:rPr>
              <a:t>Team Garden State  ·  Azra Bano, Melanie, Jayden, Adrian, [Name 5]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98"/>
                </a:solidFill>
              </a:rPr>
              <a:t>Agents prepare. Rules decide. People approve.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7777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D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Gate Dark">
  <a:themeElements>
    <a:clrScheme name="LaunchGate Dark">
      <a:dk1>
        <a:srgbClr val="0B0B0D"/>
      </a:dk1>
      <a:lt1>
        <a:srgbClr val="FFFFFF"/>
      </a:lt1>
      <a:dk2>
        <a:srgbClr val="17171C"/>
      </a:dk2>
      <a:lt2>
        <a:srgbClr val="C9CBD3"/>
      </a:lt2>
      <a:accent1>
        <a:srgbClr val="F79E1B"/>
      </a:accent1>
      <a:accent2>
        <a:srgbClr val="EB001B"/>
      </a:accent2>
      <a:accent3>
        <a:srgbClr val="FF5F00"/>
      </a:accent3>
      <a:accent4>
        <a:srgbClr val="0078D4"/>
      </a:accent4>
      <a:accent5>
        <a:srgbClr val="2ED573"/>
      </a:accent5>
      <a:accent6>
        <a:srgbClr val="8A8D98"/>
      </a:accent6>
      <a:hlink>
        <a:srgbClr val="F79E1B"/>
      </a:hlink>
      <a:folHlink>
        <a:srgbClr val="F79E1B"/>
      </a:folHlink>
    </a:clrScheme>
    <a:fontScheme name="LaunchGate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LaunchGate: pitch</dc:title>
  <dc:subject>PptxGenJS Presentation</dc:subject>
  <dc:creator>Team Garden State</dc:creator>
  <cp:lastModifiedBy>Team Garden State</cp:lastModifiedBy>
  <cp:revision>1</cp:revision>
  <dcterms:created xsi:type="dcterms:W3CDTF">2026-10-12T16:38:00Z</dcterms:created>
  <dcterms:modified xsi:type="dcterms:W3CDTF">2026-10-12T16:38:00Z</dcterms:modified>
</cp:coreProperties>
</file>