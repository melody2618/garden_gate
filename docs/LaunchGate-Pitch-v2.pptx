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GLOW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W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611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384048"/>
            <a:ext cx="310896" cy="310896"/>
          </a:xfrm>
          <a:prstGeom prst="ellipse">
            <a:avLst/>
          </a:prstGeom>
          <a:solidFill>
            <a:srgbClr val="F79E1B">
              <a:alpha val="92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51560" y="365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Garden State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LaunchGate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6EA"/>
                </a:solidFill>
              </a:rPr>
              <a:t>Give Mastercard's own engineers the promise it already makes to customers.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A66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Team Garden State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A66"/>
                </a:solidFill>
              </a:rPr>
              <a:t>Event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LEAD ASPIRE 2026, Microsoft Times Square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A66"/>
                </a:solidFill>
              </a:rPr>
              <a:t>Customer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Mastercard, with EY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DADCE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663440" cy="530352"/>
          </a:xfrm>
          <a:prstGeom prst="roundRect">
            <a:avLst>
              <a:gd name="adj" fmla="val 24138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35024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289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Azra Bano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087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Engagement lead · API, rules and readiness 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663440" cy="530352"/>
          </a:xfrm>
          <a:prstGeom prst="roundRect">
            <a:avLst>
              <a:gd name="adj" fmla="val 24138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56816"/>
            <a:ext cx="329184" cy="329184"/>
          </a:xfrm>
          <a:prstGeom prst="ellipse">
            <a:avLst/>
          </a:prstGeom>
          <a:solidFill>
            <a:srgbClr val="F79E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911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Melanie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30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Product and front end · portal and deployment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4663440" cy="530352"/>
          </a:xfrm>
          <a:prstGeom prst="roundRect">
            <a:avLst>
              <a:gd name="adj" fmla="val 24138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578608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2532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Jayden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52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Cloud · Azure Static Web Apps and delivery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4663440" cy="530352"/>
          </a:xfrm>
          <a:prstGeom prst="roundRect">
            <a:avLst>
              <a:gd name="adj" fmla="val 24138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200400"/>
            <a:ext cx="329184" cy="329184"/>
          </a:xfrm>
          <a:prstGeom prst="ellipse">
            <a:avLst/>
          </a:prstGeom>
          <a:solidFill>
            <a:srgbClr val="F79E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3154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Adrian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741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AI · Azure AI Foundry agent, risk memo, Bicep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21608"/>
            <a:ext cx="4663440" cy="530352"/>
          </a:xfrm>
          <a:prstGeom prst="roundRect">
            <a:avLst>
              <a:gd name="adj" fmla="val 24138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822192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37764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[Name 5]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95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[Role]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1234440"/>
            <a:ext cx="3291840" cy="3072384"/>
          </a:xfrm>
          <a:prstGeom prst="roundRect">
            <a:avLst>
              <a:gd name="adj" fmla="val 4167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E1B"/>
                </a:solidFill>
              </a:rPr>
              <a:t>Where we have worked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719072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1]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1719072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2]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2560320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2560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3]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86600" y="2560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4]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40156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77840" y="34015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5]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340156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86600" y="34015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6]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Money moves in a second.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Ideas wait 6 to 8 months.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865376"/>
            <a:ext cx="548640" cy="548640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79E1B"/>
                </a:solidFill>
              </a:rPr>
              <a:t>&lt; 1 second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 authorize a cardholder's transaction, billions of times a year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73736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74136" y="1865376"/>
            <a:ext cx="548640" cy="548640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659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79E1B"/>
                </a:solidFill>
              </a:rPr>
              <a:t>15 days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 Express promise to fintechs: a card program live, status visible to every party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73736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63056" y="1865376"/>
            <a:ext cx="548640" cy="548640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B001B"/>
                </a:solidFill>
              </a:rPr>
              <a:t>6 to 8 months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12 handoffs before an internal team can start building. Reported in Discovery.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D98"/>
                </a:solidFill>
              </a:rPr>
              <a:t>Product Express: mastercard.com (15 days after due diligence and contract) · Discovery with Mastercard Business Development, 12 Oct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Agents prepare. Rules decide. People approve.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554480" cy="2560320"/>
          </a:xfrm>
          <a:prstGeom prst="roundRect">
            <a:avLst>
              <a:gd name="adj" fmla="val 8235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" y="1435608"/>
            <a:ext cx="530352" cy="530352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  Ask once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450592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 business owner or engineer answers a few plain questions. Secure defaults applied.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39696" y="1325880"/>
            <a:ext cx="1554480" cy="2560320"/>
          </a:xfrm>
          <a:prstGeom prst="roundRect">
            <a:avLst>
              <a:gd name="adj" fmla="val 8235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1992" y="1435608"/>
            <a:ext cx="530352" cy="530352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5361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76856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  Rules decide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276856" y="2450592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 deterministic readiness model scores risk; every rule names the control it cites and the fix.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22192" y="1325880"/>
            <a:ext cx="1554480" cy="2560320"/>
          </a:xfrm>
          <a:prstGeom prst="roundRect">
            <a:avLst>
              <a:gd name="adj" fmla="val 8235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04488" y="1435608"/>
            <a:ext cx="530352" cy="530352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53619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59352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 Agent prepares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959352" y="2450592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Azure AI Foundry agent on an open model drafts the Bicep and a risk memo. Read-only.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504688" y="1325880"/>
            <a:ext cx="1554480" cy="2560320"/>
          </a:xfrm>
          <a:prstGeom prst="roundRect">
            <a:avLst>
              <a:gd name="adj" fmla="val 8235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86984" y="1435608"/>
            <a:ext cx="530352" cy="530352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53619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41848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  People approve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641848" y="2450592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Only the approvals that must stay human, in parallel. A GitHub gate enforces it.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87184" y="1325880"/>
            <a:ext cx="1554480" cy="2560320"/>
          </a:xfrm>
          <a:prstGeom prst="roundRect">
            <a:avLst>
              <a:gd name="adj" fmla="val 8235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69480" y="1435608"/>
            <a:ext cx="530352" cy="530352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53619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24344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5  All logged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7324344" y="2450592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Append-only audit trail; the evidence pack a partner bank asks for is already written.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Twelve handoffs become one request plus only the human approvals policy requires. Eight steps automated, three merged into the request. Nothing deploys without a person.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Governed go-live, in minutes</a:t>
            </a:r>
            <a:endParaRPr lang="en-US" sz="2800" dirty="0"/>
          </a:p>
        </p:txBody>
      </p:sp>
      <p:pic>
        <p:nvPicPr>
          <p:cNvPr id="3" name="Image 0" descr="04-owner-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069080" cy="2432304"/>
          </a:xfrm>
          <a:prstGeom prst="rect">
            <a:avLst/>
          </a:prstGeom>
        </p:spPr>
      </p:pic>
      <p:pic>
        <p:nvPicPr>
          <p:cNvPr id="4" name="Image 1" descr="05-blocked-expl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34440"/>
            <a:ext cx="4069080" cy="24323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490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BD3"/>
                </a:solidFill>
              </a:rPr>
              <a:t>Business owner view: today versus LaunchGate, risk tier, who must approve, and what has to be true.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17720" y="37490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BD3"/>
                </a:solidFill>
              </a:rPr>
              <a:t>Misconfigured program: blocked with the exact rules and controls, and the Foundry agent explains the fix.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9E1B"/>
                </a:solidFill>
              </a:rPr>
              <a:t>Scenarios: fintech card program · Agent Pay airline integration · internal service · misconfigured program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Six steps, all on Microsoft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 Portal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One plain-language request; secure defaults applied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Static Web Apps · React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56232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92808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14447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 Rule engine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965960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Deterministic rules pass or fail and name the control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965960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Azure Functions · Azure Policy schema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55264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91840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4447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64992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 AI agent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3364992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Drafts the Bicep and risk memo; explains blocks. Read-only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364992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Azure AI Foundry · open model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654296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90872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44475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64024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 Approval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764024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Required humans approve in parallel; no self-approval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4764024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Microsoft Entra ID roles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053328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89904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444752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163056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 Deploy gate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6163056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Nothing ships until approval is recorded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163056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GitHub Actions environment rule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7452360" y="1280160"/>
            <a:ext cx="1298448" cy="2148840"/>
          </a:xfrm>
          <a:prstGeom prst="roundRect">
            <a:avLst>
              <a:gd name="adj" fmla="val 985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488936" y="1344168"/>
            <a:ext cx="493776" cy="493776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444752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562088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6 Audit log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7562088" y="22128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BD3"/>
                </a:solidFill>
              </a:rPr>
              <a:t>Every step, actor and rule, append-only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7562088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79E1B"/>
                </a:solidFill>
              </a:rPr>
              <a:t>Azure Cosmos DB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57200" y="3611880"/>
            <a:ext cx="4069080" cy="868680"/>
          </a:xfrm>
          <a:prstGeom prst="roundRect">
            <a:avLst>
              <a:gd name="adj" fmla="val 14737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17720" y="3611880"/>
            <a:ext cx="4069080" cy="868680"/>
          </a:xfrm>
          <a:prstGeom prst="roundRect">
            <a:avLst>
              <a:gd name="adj" fmla="val 14737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4008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Built with GitHub Copilot</a:t>
            </a:r>
            <a:endParaRPr lang="en-US" sz="1150" dirty="0"/>
          </a:p>
        </p:txBody>
      </p:sp>
      <p:sp>
        <p:nvSpPr>
          <p:cNvPr id="42" name="Text 34"/>
          <p:cNvSpPr txBox="1"/>
          <p:nvPr/>
        </p:nvSpPr>
        <p:spPr>
          <a:xfrm>
            <a:off x="64008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Copilot encoded the rule schema and scaffolded modules; GitHub Actions deploys every change.</a:t>
            </a:r>
            <a:endParaRPr lang="en-US" sz="950" dirty="0"/>
          </a:p>
        </p:txBody>
      </p:sp>
      <p:sp>
        <p:nvSpPr>
          <p:cNvPr id="43" name="Text 35"/>
          <p:cNvSpPr txBox="1"/>
          <p:nvPr/>
        </p:nvSpPr>
        <p:spPr>
          <a:xfrm>
            <a:off x="480060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Multicloud by design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Rules are cloud-neutral, Defender for Cloud assesses AWS accounts, and deployment sits behind a swappable provider.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D98"/>
                </a:solidFill>
              </a:rPr>
              <a:t>Built today on synthetic data. Pilot adds Teams approvals, Defender for Cloud scoring, a Fabric dashboard and real provisioning via Azure Deployment Environments.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 illustrative $6M a year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06240" cy="3063240"/>
          </a:xfrm>
          <a:prstGeom prst="roundRect">
            <a:avLst>
              <a:gd name="adj" fmla="val 4179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9E1B"/>
                </a:solidFill>
              </a:rPr>
              <a:t>The model, with inputs labelled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Reported: 6 to 8 month cycle, ~12 handoffs per request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Assumed: N programs per year; most of the cycle is waiting, not work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Value per program = months saved × (partner revenue brought forward + reviewer time + engineer idle time)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Illustration: 25 programs/yr × 4 months saved = 100 program-months a year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In dollars (assumed): 5-person team × $150K loaded cost × 4 months idle ≈ $250K per program; × 25 programs ≈ $6M a year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9CBD3"/>
                </a:solidFill>
              </a:rPr>
              <a:t>Benchmark: 58 working days per quarter on compliance audits (Telos)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46320" y="1234440"/>
            <a:ext cx="3840480" cy="694944"/>
          </a:xfrm>
          <a:prstGeom prst="roundRect">
            <a:avLst>
              <a:gd name="adj" fmla="val 1842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82896" y="1307592"/>
            <a:ext cx="475488" cy="475488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0817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68112" y="1298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Time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517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Months of waiting per program become days. Capital One: 3 months to minutes.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0" y="2011680"/>
            <a:ext cx="3840480" cy="694944"/>
          </a:xfrm>
          <a:prstGeom prst="roundRect">
            <a:avLst>
              <a:gd name="adj" fmla="val 1842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2896" y="2084832"/>
            <a:ext cx="475488" cy="475488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854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68112" y="20756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5468112" y="22951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Repeat reviewer work and idle engineering time removed; evidence written once.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0" y="2788920"/>
            <a:ext cx="3840480" cy="694944"/>
          </a:xfrm>
          <a:prstGeom prst="roundRect">
            <a:avLst>
              <a:gd name="adj" fmla="val 1842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82896" y="2862072"/>
            <a:ext cx="475488" cy="475488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96265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68112" y="2852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Revenue timing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68112" y="30723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Partner programs and Agent Pay integrations go live sooner; BD quotes dates it can keep.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846320" y="3566160"/>
            <a:ext cx="3840480" cy="694944"/>
          </a:xfrm>
          <a:prstGeom prst="roundRect">
            <a:avLst>
              <a:gd name="adj" fmla="val 18421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82896" y="3639312"/>
            <a:ext cx="475488" cy="475488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3989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68112" y="3630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Risk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68112" y="384962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Same answer every time, full audit trail, no process restart on attrition.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D98"/>
                </a:solidFill>
              </a:rPr>
              <a:t>The prototype counts handoffs removed and minutes per request so a 90-day pilot can price the real savings. Request volume is the first number a pilot confirms.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ask: a 90-day pilot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1 to 30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Load Mastercard's rule catalogue into the schema with the Policy Copilot; security owns the rules.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31 to 60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190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Entra ID Governance approvals in Teams; GitHub environment gate; Defender for Cloud scoring.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61 to 90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190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provisioning through Azure Deployment Environments; Fabric dashboard reports cycle time per program.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1A1A1E">
              <a:alpha val="88000"/>
            </a:srgbClr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" y="3054096"/>
            <a:ext cx="548640" cy="548640"/>
          </a:xfrm>
          <a:prstGeom prst="ellipse">
            <a:avLst/>
          </a:prstGeom>
          <a:solidFill>
            <a:srgbClr val="26262C"/>
          </a:solidFill>
          <a:ln w="6350">
            <a:solidFill>
              <a:srgbClr val="34343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54680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035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ask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291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BD3"/>
                </a:solidFill>
              </a:rPr>
              <a:t>A sponsor in Business Development and one in Platform Security, one business unit, and the number Discovery could not give us: programs per year. Target in pilot: 12 handoffs to 1 request plus required approvals; readiness from months to days.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9E1B"/>
                </a:solidFill>
              </a:rPr>
              <a:t>Thank you: Microsoft, Mastercard and EY.  Team Garden State: Azra Bano, Melanie, Jayden, Adrian, [Name 5]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Gate Glow">
  <a:themeElements>
    <a:clrScheme name="LaunchGate Glow">
      <a:dk1>
        <a:srgbClr val="0E0E10"/>
      </a:dk1>
      <a:lt1>
        <a:srgbClr val="FFFFFF"/>
      </a:lt1>
      <a:dk2>
        <a:srgbClr val="1A1A1E"/>
      </a:dk2>
      <a:lt2>
        <a:srgbClr val="C9CBD3"/>
      </a:lt2>
      <a:accent1>
        <a:srgbClr val="F79E1B"/>
      </a:accent1>
      <a:accent2>
        <a:srgbClr val="EB001B"/>
      </a:accent2>
      <a:accent3>
        <a:srgbClr val="FF5F00"/>
      </a:accent3>
      <a:accent4>
        <a:srgbClr val="0078D4"/>
      </a:accent4>
      <a:accent5>
        <a:srgbClr val="2ED573"/>
      </a:accent5>
      <a:accent6>
        <a:srgbClr val="8A8D98"/>
      </a:accent6>
      <a:hlink>
        <a:srgbClr val="F79E1B"/>
      </a:hlink>
      <a:folHlink>
        <a:srgbClr val="F79E1B"/>
      </a:folHlink>
    </a:clrScheme>
    <a:fontScheme name="LaunchGate G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LaunchGate</dc:title>
  <dc:subject>PptxGenJS Presentation</dc:subject>
  <dc:creator>Team Garden State</dc:creator>
  <cp:lastModifiedBy>Team Garden State</cp:lastModifiedBy>
  <cp:revision>1</cp:revision>
  <dcterms:created xsi:type="dcterms:W3CDTF">2026-10-12T17:15:08Z</dcterms:created>
  <dcterms:modified xsi:type="dcterms:W3CDTF">2026-10-12T17:15:08Z</dcterms:modified>
</cp:coreProperties>
</file>