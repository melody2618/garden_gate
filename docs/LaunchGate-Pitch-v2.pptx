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GLOW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LOW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">
    <p:bg>
      <p:bgPr>
        <a:solidFill>
          <a:srgbClr val="0E0E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36118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384048"/>
            <a:ext cx="310896" cy="310896"/>
          </a:xfrm>
          <a:prstGeom prst="ellipse">
            <a:avLst/>
          </a:prstGeom>
          <a:solidFill>
            <a:srgbClr val="EB001B"/>
          </a:solidFill>
          <a:ln/>
        </p:spPr>
      </p:sp>
      <p:sp>
        <p:nvSpPr>
          <p:cNvPr id="4" name="Shape 1"/>
          <p:cNvSpPr/>
          <p:nvPr/>
        </p:nvSpPr>
        <p:spPr>
          <a:xfrm>
            <a:off x="640080" y="384048"/>
            <a:ext cx="310896" cy="310896"/>
          </a:xfrm>
          <a:prstGeom prst="ellipse">
            <a:avLst/>
          </a:prstGeom>
          <a:solidFill>
            <a:srgbClr val="F79E1B">
              <a:alpha val="92000"/>
            </a:srgbClr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1051560" y="36576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Team Garden State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0020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</a:rPr>
              <a:t>LaunchGate</a:t>
            </a:r>
            <a:endParaRPr lang="en-US" sz="72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83464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6E6EA"/>
                </a:solidFill>
              </a:rPr>
              <a:t>Give Mastercard's own engineers the promise it already makes to customers.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0" y="3611880"/>
            <a:ext cx="9144000" cy="15316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7200" y="38862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A66"/>
                </a:solidFill>
              </a:rPr>
              <a:t>Presented by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114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</a:rPr>
              <a:t>Team Garden State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3291840" y="38862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A66"/>
                </a:solidFill>
              </a:rPr>
              <a:t>Event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3291840" y="4114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</a:rPr>
              <a:t>LEAD ASPIRE 2026, Microsoft Times Square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6126480" y="38862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A66"/>
                </a:solidFill>
              </a:rPr>
              <a:t>Customer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6126480" y="4114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</a:rPr>
              <a:t>Mastercard, with EY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457200" y="4617720"/>
            <a:ext cx="8229600" cy="0"/>
          </a:xfrm>
          <a:prstGeom prst="line">
            <a:avLst/>
          </a:prstGeom>
          <a:noFill/>
          <a:ln w="12700">
            <a:solidFill>
              <a:srgbClr val="DADCE3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The team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4663440" cy="530352"/>
          </a:xfrm>
          <a:prstGeom prst="roundRect">
            <a:avLst>
              <a:gd name="adj" fmla="val 24138"/>
            </a:avLst>
          </a:prstGeom>
          <a:solidFill>
            <a:srgbClr val="1A1A1E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335024"/>
            <a:ext cx="329184" cy="329184"/>
          </a:xfrm>
          <a:prstGeom prst="ellipse">
            <a:avLst/>
          </a:prstGeom>
          <a:solidFill>
            <a:srgbClr val="EB001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97280" y="1289304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Azra Bano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50876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CBD3"/>
                </a:solidFill>
              </a:rPr>
              <a:t>Engagement lead · API, rules and readiness model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856232"/>
            <a:ext cx="4663440" cy="530352"/>
          </a:xfrm>
          <a:prstGeom prst="roundRect">
            <a:avLst>
              <a:gd name="adj" fmla="val 24138"/>
            </a:avLst>
          </a:prstGeom>
          <a:solidFill>
            <a:srgbClr val="1A1A1E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1956816"/>
            <a:ext cx="329184" cy="329184"/>
          </a:xfrm>
          <a:prstGeom prst="ellipse">
            <a:avLst/>
          </a:prstGeom>
          <a:solidFill>
            <a:srgbClr val="F79E1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97280" y="1911096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Melanie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2130552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CBD3"/>
                </a:solidFill>
              </a:rPr>
              <a:t>Product and front end · portal and deployment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2478024"/>
            <a:ext cx="4663440" cy="530352"/>
          </a:xfrm>
          <a:prstGeom prst="roundRect">
            <a:avLst>
              <a:gd name="adj" fmla="val 24138"/>
            </a:avLst>
          </a:prstGeom>
          <a:solidFill>
            <a:srgbClr val="1A1A1E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2578608"/>
            <a:ext cx="329184" cy="329184"/>
          </a:xfrm>
          <a:prstGeom prst="ellipse">
            <a:avLst/>
          </a:prstGeom>
          <a:solidFill>
            <a:srgbClr val="EB001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97280" y="2532888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Jayden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2752344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CBD3"/>
                </a:solidFill>
              </a:rPr>
              <a:t>Cloud · Azure Static Web Apps and delivery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099816"/>
            <a:ext cx="4663440" cy="530352"/>
          </a:xfrm>
          <a:prstGeom prst="roundRect">
            <a:avLst>
              <a:gd name="adj" fmla="val 24138"/>
            </a:avLst>
          </a:prstGeom>
          <a:solidFill>
            <a:srgbClr val="1A1A1E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3200400"/>
            <a:ext cx="329184" cy="329184"/>
          </a:xfrm>
          <a:prstGeom prst="ellipse">
            <a:avLst/>
          </a:prstGeom>
          <a:solidFill>
            <a:srgbClr val="F79E1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97280" y="315468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Adrian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3374136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CBD3"/>
                </a:solidFill>
              </a:rPr>
              <a:t>AI · Azure AI Foundry agent, risk memo, Bicep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721608"/>
            <a:ext cx="4663440" cy="530352"/>
          </a:xfrm>
          <a:prstGeom prst="roundRect">
            <a:avLst>
              <a:gd name="adj" fmla="val 24138"/>
            </a:avLst>
          </a:prstGeom>
          <a:solidFill>
            <a:srgbClr val="1A1A1E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3822192"/>
            <a:ext cx="329184" cy="329184"/>
          </a:xfrm>
          <a:prstGeom prst="ellipse">
            <a:avLst/>
          </a:prstGeom>
          <a:solidFill>
            <a:srgbClr val="EB001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97280" y="3776472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[Name 5]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097280" y="3995928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CBD3"/>
                </a:solidFill>
              </a:rPr>
              <a:t>[Role]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394960" y="1234440"/>
            <a:ext cx="3291840" cy="3072384"/>
          </a:xfrm>
          <a:prstGeom prst="roundRect">
            <a:avLst>
              <a:gd name="adj" fmla="val 4167"/>
            </a:avLst>
          </a:prstGeom>
          <a:solidFill>
            <a:srgbClr val="1A1A1E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577840" y="135331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E1B"/>
                </a:solidFill>
              </a:rPr>
              <a:t>Where we have worked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577840" y="1719072"/>
            <a:ext cx="1417320" cy="713232"/>
          </a:xfrm>
          <a:prstGeom prst="roundRect">
            <a:avLst>
              <a:gd name="adj" fmla="val 12821"/>
            </a:avLst>
          </a:prstGeom>
          <a:solidFill>
            <a:srgbClr val="26262C"/>
          </a:solidFill>
          <a:ln w="6350">
            <a:solidFill>
              <a:srgbClr val="34343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577840" y="1719072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D98"/>
                </a:solidFill>
              </a:rPr>
              <a:t>[Logo 1]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086600" y="1719072"/>
            <a:ext cx="1417320" cy="713232"/>
          </a:xfrm>
          <a:prstGeom prst="roundRect">
            <a:avLst>
              <a:gd name="adj" fmla="val 12821"/>
            </a:avLst>
          </a:prstGeom>
          <a:solidFill>
            <a:srgbClr val="26262C"/>
          </a:solidFill>
          <a:ln w="6350">
            <a:solidFill>
              <a:srgbClr val="34343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086600" y="1719072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D98"/>
                </a:solidFill>
              </a:rPr>
              <a:t>[Logo 2]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577840" y="2560320"/>
            <a:ext cx="1417320" cy="713232"/>
          </a:xfrm>
          <a:prstGeom prst="roundRect">
            <a:avLst>
              <a:gd name="adj" fmla="val 12821"/>
            </a:avLst>
          </a:prstGeom>
          <a:solidFill>
            <a:srgbClr val="26262C"/>
          </a:solidFill>
          <a:ln w="6350">
            <a:solidFill>
              <a:srgbClr val="34343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577840" y="2560320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D98"/>
                </a:solidFill>
              </a:rPr>
              <a:t>[Logo 3]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086600" y="2560320"/>
            <a:ext cx="1417320" cy="713232"/>
          </a:xfrm>
          <a:prstGeom prst="roundRect">
            <a:avLst>
              <a:gd name="adj" fmla="val 12821"/>
            </a:avLst>
          </a:prstGeom>
          <a:solidFill>
            <a:srgbClr val="26262C"/>
          </a:solidFill>
          <a:ln w="6350">
            <a:solidFill>
              <a:srgbClr val="34343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086600" y="2560320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D98"/>
                </a:solidFill>
              </a:rPr>
              <a:t>[Logo 4]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577840" y="3401568"/>
            <a:ext cx="1417320" cy="713232"/>
          </a:xfrm>
          <a:prstGeom prst="roundRect">
            <a:avLst>
              <a:gd name="adj" fmla="val 12821"/>
            </a:avLst>
          </a:prstGeom>
          <a:solidFill>
            <a:srgbClr val="26262C"/>
          </a:solidFill>
          <a:ln w="6350">
            <a:solidFill>
              <a:srgbClr val="34343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577840" y="3401568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D98"/>
                </a:solidFill>
              </a:rPr>
              <a:t>[Logo 5]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086600" y="3401568"/>
            <a:ext cx="1417320" cy="713232"/>
          </a:xfrm>
          <a:prstGeom prst="roundRect">
            <a:avLst>
              <a:gd name="adj" fmla="val 12821"/>
            </a:avLst>
          </a:prstGeom>
          <a:solidFill>
            <a:srgbClr val="26262C"/>
          </a:solidFill>
          <a:ln w="6350">
            <a:solidFill>
              <a:srgbClr val="34343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086600" y="3401568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D98"/>
                </a:solidFill>
              </a:rPr>
              <a:t>[Logo 6]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Fast for customers. Fast for partners.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Slow for its own people.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737360"/>
            <a:ext cx="2651760" cy="2514600"/>
          </a:xfrm>
          <a:prstGeom prst="roundRect">
            <a:avLst>
              <a:gd name="adj" fmla="val 5091"/>
            </a:avLst>
          </a:prstGeom>
          <a:solidFill>
            <a:srgbClr val="1A1A1E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1865376"/>
            <a:ext cx="548640" cy="548640"/>
          </a:xfrm>
          <a:prstGeom prst="ellipse">
            <a:avLst/>
          </a:prstGeom>
          <a:solidFill>
            <a:srgbClr val="26262C"/>
          </a:solidFill>
          <a:ln w="6350">
            <a:solidFill>
              <a:srgbClr val="34343B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965960"/>
            <a:ext cx="347472" cy="3474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260604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F79E1B"/>
                </a:solidFill>
              </a:rPr>
              <a:t>&lt; 1 second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24612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For customers: to authorize a transaction, billions of times a year.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246120" y="1737360"/>
            <a:ext cx="2651760" cy="2514600"/>
          </a:xfrm>
          <a:prstGeom prst="roundRect">
            <a:avLst>
              <a:gd name="adj" fmla="val 5091"/>
            </a:avLst>
          </a:prstGeom>
          <a:solidFill>
            <a:srgbClr val="1A1A1E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374136" y="1865376"/>
            <a:ext cx="548640" cy="548640"/>
          </a:xfrm>
          <a:prstGeom prst="ellipse">
            <a:avLst/>
          </a:prstGeom>
          <a:solidFill>
            <a:srgbClr val="26262C"/>
          </a:solidFill>
          <a:ln w="6350">
            <a:solidFill>
              <a:srgbClr val="34343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1965960"/>
            <a:ext cx="347472" cy="34747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474720" y="260604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F79E1B"/>
                </a:solidFill>
              </a:rPr>
              <a:t>15 days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3474720" y="324612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For partners: Product Express promises a fintech a live card program, status visible to every party.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035040" y="1737360"/>
            <a:ext cx="2651760" cy="2514600"/>
          </a:xfrm>
          <a:prstGeom prst="roundRect">
            <a:avLst>
              <a:gd name="adj" fmla="val 5091"/>
            </a:avLst>
          </a:prstGeom>
          <a:solidFill>
            <a:srgbClr val="1A1A1E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163056" y="1865376"/>
            <a:ext cx="548640" cy="548640"/>
          </a:xfrm>
          <a:prstGeom prst="ellipse">
            <a:avLst/>
          </a:prstGeom>
          <a:solidFill>
            <a:srgbClr val="26262C"/>
          </a:solidFill>
          <a:ln w="6350">
            <a:solidFill>
              <a:srgbClr val="34343B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965960"/>
            <a:ext cx="347472" cy="34747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263640" y="260604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EB001B"/>
                </a:solidFill>
              </a:rPr>
              <a:t>6 to 8 months</a:t>
            </a:r>
            <a:endParaRPr lang="en-US" sz="2800" dirty="0"/>
          </a:p>
        </p:txBody>
      </p:sp>
      <p:sp>
        <p:nvSpPr>
          <p:cNvPr id="17" name="Text 12"/>
          <p:cNvSpPr txBox="1"/>
          <p:nvPr/>
        </p:nvSpPr>
        <p:spPr>
          <a:xfrm>
            <a:off x="6263640" y="324612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For its own engineers: 12 handoffs before a team can start building. Reported in Discovery.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457200" y="46405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8D98"/>
                </a:solidFill>
              </a:rPr>
              <a:t>Product Express: mastercard.com (15 days after due diligence and contract) · Discovery with Mastercard Business Development, 12 Oct 2026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One request. Three steps. Nothing deploys without a person.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417320"/>
            <a:ext cx="2651760" cy="2148840"/>
          </a:xfrm>
          <a:prstGeom prst="roundRect">
            <a:avLst>
              <a:gd name="adj" fmla="val 5957"/>
            </a:avLst>
          </a:prstGeom>
          <a:solidFill>
            <a:srgbClr val="1A1A1E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" y="1591056"/>
            <a:ext cx="621792" cy="621792"/>
          </a:xfrm>
          <a:prstGeom prst="ellipse">
            <a:avLst/>
          </a:prstGeom>
          <a:solidFill>
            <a:srgbClr val="26262C"/>
          </a:solidFill>
          <a:ln w="6350">
            <a:solidFill>
              <a:srgbClr val="34343B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91640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3774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Ask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816352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CBD3"/>
                </a:solidFill>
              </a:rPr>
              <a:t>Fill in one form. The rules check it instantly and tell you exactly what to fix.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3072384" y="22860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79E1B"/>
                </a:solidFill>
              </a:rPr>
              <a:t>›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3246120" y="1417320"/>
            <a:ext cx="2651760" cy="2148840"/>
          </a:xfrm>
          <a:prstGeom prst="roundRect">
            <a:avLst>
              <a:gd name="adj" fmla="val 5957"/>
            </a:avLst>
          </a:prstGeom>
          <a:solidFill>
            <a:srgbClr val="1A1A1E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19856" y="1591056"/>
            <a:ext cx="621792" cy="621792"/>
          </a:xfrm>
          <a:prstGeom prst="ellipse">
            <a:avLst/>
          </a:prstGeom>
          <a:solidFill>
            <a:srgbClr val="26262C"/>
          </a:solidFill>
          <a:ln w="6350">
            <a:solidFill>
              <a:srgbClr val="34343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1691640"/>
            <a:ext cx="420624" cy="42062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520440" y="23774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Prepare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3520440" y="2816352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CBD3"/>
                </a:solidFill>
              </a:rPr>
              <a:t>An AI agent writes the risk memo and the infrastructure code. It cannot approve anything.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5861304" y="22860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79E1B"/>
                </a:solidFill>
              </a:rPr>
              <a:t>›</a:t>
            </a:r>
            <a:endParaRPr lang="en-US" sz="2800" dirty="0"/>
          </a:p>
        </p:txBody>
      </p:sp>
      <p:sp>
        <p:nvSpPr>
          <p:cNvPr id="15" name="Shape 11"/>
          <p:cNvSpPr/>
          <p:nvPr/>
        </p:nvSpPr>
        <p:spPr>
          <a:xfrm>
            <a:off x="6035040" y="1417320"/>
            <a:ext cx="2651760" cy="2148840"/>
          </a:xfrm>
          <a:prstGeom prst="roundRect">
            <a:avLst>
              <a:gd name="adj" fmla="val 5957"/>
            </a:avLst>
          </a:prstGeom>
          <a:solidFill>
            <a:srgbClr val="1A1A1E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208776" y="1591056"/>
            <a:ext cx="621792" cy="621792"/>
          </a:xfrm>
          <a:prstGeom prst="ellipse">
            <a:avLst/>
          </a:prstGeom>
          <a:solidFill>
            <a:srgbClr val="26262C"/>
          </a:solidFill>
          <a:ln w="6350">
            <a:solidFill>
              <a:srgbClr val="34343B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91640"/>
            <a:ext cx="420624" cy="42062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09360" y="23774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Approve</a:t>
            </a:r>
            <a:endParaRPr lang="en-US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6309360" y="2816352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CBD3"/>
                </a:solidFill>
              </a:rPr>
              <a:t>The one or two people who must sign, sign in one place. Then it deploys, fully logged.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457200" y="3794760"/>
            <a:ext cx="4069080" cy="822960"/>
          </a:xfrm>
          <a:prstGeom prst="roundRect">
            <a:avLst>
              <a:gd name="adj" fmla="val 15556"/>
            </a:avLst>
          </a:prstGeom>
          <a:solidFill>
            <a:srgbClr val="1F1414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617720" y="3794760"/>
            <a:ext cx="4069080" cy="822960"/>
          </a:xfrm>
          <a:prstGeom prst="roundRect">
            <a:avLst>
              <a:gd name="adj" fmla="val 15556"/>
            </a:avLst>
          </a:prstGeom>
          <a:solidFill>
            <a:srgbClr val="12201A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" y="385876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B001B"/>
                </a:solidFill>
              </a:rPr>
              <a:t>Today</a:t>
            </a:r>
            <a:endParaRPr lang="en-US" sz="1000" dirty="0"/>
          </a:p>
        </p:txBody>
      </p:sp>
      <p:sp>
        <p:nvSpPr>
          <p:cNvPr id="23" name="Text 18"/>
          <p:cNvSpPr txBox="1"/>
          <p:nvPr/>
        </p:nvSpPr>
        <p:spPr>
          <a:xfrm>
            <a:off x="685800" y="409651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12 handoffs, 6 to 8 months</a:t>
            </a:r>
            <a:endParaRPr lang="en-US" sz="1800" dirty="0"/>
          </a:p>
        </p:txBody>
      </p:sp>
      <p:sp>
        <p:nvSpPr>
          <p:cNvPr id="24" name="Text 19"/>
          <p:cNvSpPr txBox="1"/>
          <p:nvPr/>
        </p:nvSpPr>
        <p:spPr>
          <a:xfrm>
            <a:off x="4846320" y="385876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D573"/>
                </a:solidFill>
              </a:rPr>
              <a:t>With LaunchGate</a:t>
            </a:r>
            <a:endParaRPr lang="en-US" sz="1000" dirty="0"/>
          </a:p>
        </p:txBody>
      </p:sp>
      <p:sp>
        <p:nvSpPr>
          <p:cNvPr id="25" name="Text 20"/>
          <p:cNvSpPr txBox="1"/>
          <p:nvPr/>
        </p:nvSpPr>
        <p:spPr>
          <a:xfrm>
            <a:off x="4846320" y="409651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 request, 1 to 2 approvals, days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Governed go-live, in minutes</a:t>
            </a:r>
            <a:endParaRPr lang="en-US" sz="2800" dirty="0"/>
          </a:p>
        </p:txBody>
      </p:sp>
      <p:pic>
        <p:nvPicPr>
          <p:cNvPr id="3" name="Image 0" descr="04-owner-outc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4069080" cy="2432304"/>
          </a:xfrm>
          <a:prstGeom prst="rect">
            <a:avLst/>
          </a:prstGeom>
        </p:spPr>
      </p:pic>
      <p:pic>
        <p:nvPicPr>
          <p:cNvPr id="4" name="Image 1" descr="05-blocked-expla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234440"/>
            <a:ext cx="4069080" cy="2432304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374904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BD3"/>
                </a:solidFill>
              </a:rPr>
              <a:t>Business owner view: today versus LaunchGate, risk tier, who must approve, and what has to be true.</a:t>
            </a:r>
            <a:endParaRPr lang="en-US" sz="1100" dirty="0"/>
          </a:p>
        </p:txBody>
      </p:sp>
      <p:sp>
        <p:nvSpPr>
          <p:cNvPr id="6" name="Text 2"/>
          <p:cNvSpPr txBox="1"/>
          <p:nvPr/>
        </p:nvSpPr>
        <p:spPr>
          <a:xfrm>
            <a:off x="4617720" y="374904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BD3"/>
                </a:solidFill>
              </a:rPr>
              <a:t>Misconfigured program: blocked with the exact rules and controls, and the Foundry agent explains the fix.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79E1B"/>
                </a:solidFill>
              </a:rPr>
              <a:t>Scenarios: fintech card program · Agent Pay airline integration · internal service · misconfigured program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Six steps, all on Microsoft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298448" cy="2148840"/>
          </a:xfrm>
          <a:prstGeom prst="roundRect">
            <a:avLst>
              <a:gd name="adj" fmla="val 9859"/>
            </a:avLst>
          </a:prstGeom>
          <a:solidFill>
            <a:srgbClr val="1A1A1E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3776" y="1344168"/>
            <a:ext cx="493776" cy="493776"/>
          </a:xfrm>
          <a:prstGeom prst="ellipse">
            <a:avLst/>
          </a:prstGeom>
          <a:solidFill>
            <a:srgbClr val="26262C"/>
          </a:solidFill>
          <a:ln w="6350">
            <a:solidFill>
              <a:srgbClr val="34343B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444752"/>
            <a:ext cx="292608" cy="2926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19385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1 Portal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2212848"/>
            <a:ext cx="1097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9CBD3"/>
                </a:solidFill>
              </a:rPr>
              <a:t>One plain-language request; secure defaults applied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29443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79E1B"/>
                </a:solidFill>
              </a:rPr>
              <a:t>Static Web Apps · React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1856232" y="1280160"/>
            <a:ext cx="1298448" cy="2148840"/>
          </a:xfrm>
          <a:prstGeom prst="roundRect">
            <a:avLst>
              <a:gd name="adj" fmla="val 9859"/>
            </a:avLst>
          </a:prstGeom>
          <a:solidFill>
            <a:srgbClr val="1A1A1E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892808" y="1344168"/>
            <a:ext cx="493776" cy="493776"/>
          </a:xfrm>
          <a:prstGeom prst="ellipse">
            <a:avLst/>
          </a:prstGeom>
          <a:solidFill>
            <a:srgbClr val="26262C"/>
          </a:solidFill>
          <a:ln w="6350">
            <a:solidFill>
              <a:srgbClr val="34343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3392" y="1444752"/>
            <a:ext cx="292608" cy="29260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965960" y="19385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2 Rule engine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1965960" y="2212848"/>
            <a:ext cx="1097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9CBD3"/>
                </a:solidFill>
              </a:rPr>
              <a:t>Deterministic rules pass or fail and name the control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1965960" y="29443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79E1B"/>
                </a:solidFill>
              </a:rPr>
              <a:t>Azure Functions · Azure Policy schema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3255264" y="1280160"/>
            <a:ext cx="1298448" cy="2148840"/>
          </a:xfrm>
          <a:prstGeom prst="roundRect">
            <a:avLst>
              <a:gd name="adj" fmla="val 9859"/>
            </a:avLst>
          </a:prstGeom>
          <a:solidFill>
            <a:srgbClr val="1A1A1E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3291840" y="1344168"/>
            <a:ext cx="493776" cy="493776"/>
          </a:xfrm>
          <a:prstGeom prst="ellipse">
            <a:avLst/>
          </a:prstGeom>
          <a:solidFill>
            <a:srgbClr val="26262C"/>
          </a:solidFill>
          <a:ln w="6350">
            <a:solidFill>
              <a:srgbClr val="34343B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2424" y="1444752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3364992" y="19385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3 AI agent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3364992" y="2212848"/>
            <a:ext cx="1097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9CBD3"/>
                </a:solidFill>
              </a:rPr>
              <a:t>Drafts the Bicep and risk memo; explains blocks. Read-only</a:t>
            </a:r>
            <a:endParaRPr lang="en-US" sz="900" dirty="0"/>
          </a:p>
        </p:txBody>
      </p:sp>
      <p:sp>
        <p:nvSpPr>
          <p:cNvPr id="20" name="Text 15"/>
          <p:cNvSpPr txBox="1"/>
          <p:nvPr/>
        </p:nvSpPr>
        <p:spPr>
          <a:xfrm>
            <a:off x="3364992" y="29443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79E1B"/>
                </a:solidFill>
              </a:rPr>
              <a:t>Azure AI Foundry · open model</a:t>
            </a:r>
            <a:endParaRPr lang="en-US" sz="850" dirty="0"/>
          </a:p>
        </p:txBody>
      </p:sp>
      <p:sp>
        <p:nvSpPr>
          <p:cNvPr id="21" name="Shape 16"/>
          <p:cNvSpPr/>
          <p:nvPr/>
        </p:nvSpPr>
        <p:spPr>
          <a:xfrm>
            <a:off x="4654296" y="1280160"/>
            <a:ext cx="1298448" cy="2148840"/>
          </a:xfrm>
          <a:prstGeom prst="roundRect">
            <a:avLst>
              <a:gd name="adj" fmla="val 9859"/>
            </a:avLst>
          </a:prstGeom>
          <a:solidFill>
            <a:srgbClr val="1A1A1E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4690872" y="1344168"/>
            <a:ext cx="493776" cy="493776"/>
          </a:xfrm>
          <a:prstGeom prst="ellipse">
            <a:avLst/>
          </a:prstGeom>
          <a:solidFill>
            <a:srgbClr val="26262C"/>
          </a:solidFill>
          <a:ln w="6350">
            <a:solidFill>
              <a:srgbClr val="34343B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1456" y="1444752"/>
            <a:ext cx="292608" cy="292608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4764024" y="19385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4 Approval</a:t>
            </a:r>
            <a:endParaRPr lang="en-US" sz="1150" dirty="0"/>
          </a:p>
        </p:txBody>
      </p:sp>
      <p:sp>
        <p:nvSpPr>
          <p:cNvPr id="25" name="Text 19"/>
          <p:cNvSpPr txBox="1"/>
          <p:nvPr/>
        </p:nvSpPr>
        <p:spPr>
          <a:xfrm>
            <a:off x="4764024" y="2212848"/>
            <a:ext cx="1097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9CBD3"/>
                </a:solidFill>
              </a:rPr>
              <a:t>Required humans approve in parallel; no self-approval</a:t>
            </a:r>
            <a:endParaRPr lang="en-US" sz="900" dirty="0"/>
          </a:p>
        </p:txBody>
      </p:sp>
      <p:sp>
        <p:nvSpPr>
          <p:cNvPr id="26" name="Text 20"/>
          <p:cNvSpPr txBox="1"/>
          <p:nvPr/>
        </p:nvSpPr>
        <p:spPr>
          <a:xfrm>
            <a:off x="4764024" y="29443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79E1B"/>
                </a:solidFill>
              </a:rPr>
              <a:t>Microsoft Entra ID roles</a:t>
            </a:r>
            <a:endParaRPr lang="en-US" sz="850" dirty="0"/>
          </a:p>
        </p:txBody>
      </p:sp>
      <p:sp>
        <p:nvSpPr>
          <p:cNvPr id="27" name="Shape 21"/>
          <p:cNvSpPr/>
          <p:nvPr/>
        </p:nvSpPr>
        <p:spPr>
          <a:xfrm>
            <a:off x="6053328" y="1280160"/>
            <a:ext cx="1298448" cy="2148840"/>
          </a:xfrm>
          <a:prstGeom prst="roundRect">
            <a:avLst>
              <a:gd name="adj" fmla="val 9859"/>
            </a:avLst>
          </a:prstGeom>
          <a:solidFill>
            <a:srgbClr val="1A1A1E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6089904" y="1344168"/>
            <a:ext cx="493776" cy="493776"/>
          </a:xfrm>
          <a:prstGeom prst="ellipse">
            <a:avLst/>
          </a:prstGeom>
          <a:solidFill>
            <a:srgbClr val="26262C"/>
          </a:solidFill>
          <a:ln w="6350">
            <a:solidFill>
              <a:srgbClr val="34343B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0488" y="1444752"/>
            <a:ext cx="292608" cy="292608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6163056" y="19385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5 Deploy gate</a:t>
            </a:r>
            <a:endParaRPr lang="en-US" sz="1150" dirty="0"/>
          </a:p>
        </p:txBody>
      </p:sp>
      <p:sp>
        <p:nvSpPr>
          <p:cNvPr id="31" name="Text 24"/>
          <p:cNvSpPr txBox="1"/>
          <p:nvPr/>
        </p:nvSpPr>
        <p:spPr>
          <a:xfrm>
            <a:off x="6163056" y="2212848"/>
            <a:ext cx="1097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9CBD3"/>
                </a:solidFill>
              </a:rPr>
              <a:t>Nothing ships until approval is recorded</a:t>
            </a:r>
            <a:endParaRPr lang="en-US" sz="900" dirty="0"/>
          </a:p>
        </p:txBody>
      </p:sp>
      <p:sp>
        <p:nvSpPr>
          <p:cNvPr id="32" name="Text 25"/>
          <p:cNvSpPr txBox="1"/>
          <p:nvPr/>
        </p:nvSpPr>
        <p:spPr>
          <a:xfrm>
            <a:off x="6163056" y="29443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79E1B"/>
                </a:solidFill>
              </a:rPr>
              <a:t>GitHub Actions environment rule</a:t>
            </a:r>
            <a:endParaRPr lang="en-US" sz="850" dirty="0"/>
          </a:p>
        </p:txBody>
      </p:sp>
      <p:sp>
        <p:nvSpPr>
          <p:cNvPr id="33" name="Shape 26"/>
          <p:cNvSpPr/>
          <p:nvPr/>
        </p:nvSpPr>
        <p:spPr>
          <a:xfrm>
            <a:off x="7452360" y="1280160"/>
            <a:ext cx="1298448" cy="2148840"/>
          </a:xfrm>
          <a:prstGeom prst="roundRect">
            <a:avLst>
              <a:gd name="adj" fmla="val 9859"/>
            </a:avLst>
          </a:prstGeom>
          <a:solidFill>
            <a:srgbClr val="1A1A1E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7488936" y="1344168"/>
            <a:ext cx="493776" cy="493776"/>
          </a:xfrm>
          <a:prstGeom prst="ellipse">
            <a:avLst/>
          </a:prstGeom>
          <a:solidFill>
            <a:srgbClr val="26262C"/>
          </a:solidFill>
          <a:ln w="6350">
            <a:solidFill>
              <a:srgbClr val="34343B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9520" y="1444752"/>
            <a:ext cx="292608" cy="292608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7562088" y="19385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6 Audit log</a:t>
            </a:r>
            <a:endParaRPr lang="en-US" sz="1150" dirty="0"/>
          </a:p>
        </p:txBody>
      </p:sp>
      <p:sp>
        <p:nvSpPr>
          <p:cNvPr id="37" name="Text 29"/>
          <p:cNvSpPr txBox="1"/>
          <p:nvPr/>
        </p:nvSpPr>
        <p:spPr>
          <a:xfrm>
            <a:off x="7562088" y="2212848"/>
            <a:ext cx="1097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9CBD3"/>
                </a:solidFill>
              </a:rPr>
              <a:t>Every step, actor and rule, append-only</a:t>
            </a:r>
            <a:endParaRPr lang="en-US" sz="900" dirty="0"/>
          </a:p>
        </p:txBody>
      </p:sp>
      <p:sp>
        <p:nvSpPr>
          <p:cNvPr id="38" name="Text 30"/>
          <p:cNvSpPr txBox="1"/>
          <p:nvPr/>
        </p:nvSpPr>
        <p:spPr>
          <a:xfrm>
            <a:off x="7562088" y="29443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79E1B"/>
                </a:solidFill>
              </a:rPr>
              <a:t>Azure Cosmos DB</a:t>
            </a:r>
            <a:endParaRPr lang="en-US" sz="850" dirty="0"/>
          </a:p>
        </p:txBody>
      </p:sp>
      <p:sp>
        <p:nvSpPr>
          <p:cNvPr id="39" name="Shape 31"/>
          <p:cNvSpPr/>
          <p:nvPr/>
        </p:nvSpPr>
        <p:spPr>
          <a:xfrm>
            <a:off x="457200" y="3611880"/>
            <a:ext cx="4069080" cy="868680"/>
          </a:xfrm>
          <a:prstGeom prst="roundRect">
            <a:avLst>
              <a:gd name="adj" fmla="val 14737"/>
            </a:avLst>
          </a:prstGeom>
          <a:solidFill>
            <a:srgbClr val="1A1A1E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40" name="Shape 32"/>
          <p:cNvSpPr/>
          <p:nvPr/>
        </p:nvSpPr>
        <p:spPr>
          <a:xfrm>
            <a:off x="4617720" y="3611880"/>
            <a:ext cx="4069080" cy="868680"/>
          </a:xfrm>
          <a:prstGeom prst="roundRect">
            <a:avLst>
              <a:gd name="adj" fmla="val 14737"/>
            </a:avLst>
          </a:prstGeom>
          <a:solidFill>
            <a:srgbClr val="1A1A1E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41" name="Text 33"/>
          <p:cNvSpPr txBox="1"/>
          <p:nvPr/>
        </p:nvSpPr>
        <p:spPr>
          <a:xfrm>
            <a:off x="640080" y="36758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Built with GitHub Copilot</a:t>
            </a:r>
            <a:endParaRPr lang="en-US" sz="1150" dirty="0"/>
          </a:p>
        </p:txBody>
      </p:sp>
      <p:sp>
        <p:nvSpPr>
          <p:cNvPr id="42" name="Text 34"/>
          <p:cNvSpPr txBox="1"/>
          <p:nvPr/>
        </p:nvSpPr>
        <p:spPr>
          <a:xfrm>
            <a:off x="640080" y="39319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CBD3"/>
                </a:solidFill>
              </a:rPr>
              <a:t>Copilot encoded the rule schema and scaffolded modules; GitHub Actions deploys every change.</a:t>
            </a:r>
            <a:endParaRPr lang="en-US" sz="950" dirty="0"/>
          </a:p>
        </p:txBody>
      </p:sp>
      <p:sp>
        <p:nvSpPr>
          <p:cNvPr id="43" name="Text 35"/>
          <p:cNvSpPr txBox="1"/>
          <p:nvPr/>
        </p:nvSpPr>
        <p:spPr>
          <a:xfrm>
            <a:off x="4800600" y="36758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Multicloud by design</a:t>
            </a:r>
            <a:endParaRPr lang="en-US" sz="1150" dirty="0"/>
          </a:p>
        </p:txBody>
      </p:sp>
      <p:sp>
        <p:nvSpPr>
          <p:cNvPr id="44" name="Text 36"/>
          <p:cNvSpPr txBox="1"/>
          <p:nvPr/>
        </p:nvSpPr>
        <p:spPr>
          <a:xfrm>
            <a:off x="4800600" y="39319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CBD3"/>
                </a:solidFill>
              </a:rPr>
              <a:t>Rules are cloud-neutral, Defender for Cloud assesses AWS accounts, and deployment sits behind a swappable provider.</a:t>
            </a:r>
            <a:endParaRPr lang="en-US" sz="950" dirty="0"/>
          </a:p>
        </p:txBody>
      </p:sp>
      <p:sp>
        <p:nvSpPr>
          <p:cNvPr id="45" name="Text 37"/>
          <p:cNvSpPr txBox="1"/>
          <p:nvPr/>
        </p:nvSpPr>
        <p:spPr>
          <a:xfrm>
            <a:off x="457200" y="46405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8D98"/>
                </a:solidFill>
              </a:rPr>
              <a:t>Built today on synthetic data. Pilot adds Teams approvals, Defender for Cloud scoring, a Fabric dashboard and real provisioning via Azure Deployment Environments.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An illustrative $6M a year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4206240" cy="3063240"/>
          </a:xfrm>
          <a:prstGeom prst="roundRect">
            <a:avLst>
              <a:gd name="adj" fmla="val 4179"/>
            </a:avLst>
          </a:prstGeom>
          <a:solidFill>
            <a:srgbClr val="1A1A1E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79E1B"/>
                </a:solidFill>
              </a:rPr>
              <a:t>The model, with inputs labelled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3886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9CBD3"/>
                </a:solidFill>
              </a:rPr>
              <a:t>Reported: 6 to 8 month cycle, ~12 handoffs per request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9CBD3"/>
                </a:solidFill>
              </a:rPr>
              <a:t>Assumed: N programs per year; most of the cycle is waiting, not work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9CBD3"/>
                </a:solidFill>
              </a:rPr>
              <a:t>Value per program = months saved × (partner revenue brought forward + reviewer time + engineer idle time)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9CBD3"/>
                </a:solidFill>
              </a:rPr>
              <a:t>Illustration: 25 programs/yr × 4 months saved = 100 program-months a year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9CBD3"/>
                </a:solidFill>
              </a:rPr>
              <a:t>In dollars (assumed): 5-person team × $150K loaded cost × 4 months idle ≈ $250K per program; × 25 programs ≈ $6M a year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9CBD3"/>
                </a:solidFill>
              </a:rPr>
              <a:t>Benchmark: 58 working days per quarter on compliance audits (Telos)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846320" y="1234440"/>
            <a:ext cx="3840480" cy="694944"/>
          </a:xfrm>
          <a:prstGeom prst="roundRect">
            <a:avLst>
              <a:gd name="adj" fmla="val 18421"/>
            </a:avLst>
          </a:prstGeom>
          <a:solidFill>
            <a:srgbClr val="1A1A1E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882896" y="1307592"/>
            <a:ext cx="475488" cy="475488"/>
          </a:xfrm>
          <a:prstGeom prst="ellipse">
            <a:avLst/>
          </a:prstGeom>
          <a:solidFill>
            <a:srgbClr val="26262C"/>
          </a:solidFill>
          <a:ln w="6350">
            <a:solidFill>
              <a:srgbClr val="34343B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83480" y="1408176"/>
            <a:ext cx="274320" cy="2743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68112" y="129844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Time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5468112" y="1517904"/>
            <a:ext cx="3108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CBD3"/>
                </a:solidFill>
              </a:rPr>
              <a:t>Months of waiting per program become days. Capital One: 3 months to minutes.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846320" y="2011680"/>
            <a:ext cx="3840480" cy="694944"/>
          </a:xfrm>
          <a:prstGeom prst="roundRect">
            <a:avLst>
              <a:gd name="adj" fmla="val 18421"/>
            </a:avLst>
          </a:prstGeom>
          <a:solidFill>
            <a:srgbClr val="1A1A1E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882896" y="2084832"/>
            <a:ext cx="475488" cy="475488"/>
          </a:xfrm>
          <a:prstGeom prst="ellipse">
            <a:avLst/>
          </a:prstGeom>
          <a:solidFill>
            <a:srgbClr val="26262C"/>
          </a:solidFill>
          <a:ln w="6350">
            <a:solidFill>
              <a:srgbClr val="34343B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2185416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468112" y="207568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Cost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5468112" y="2295144"/>
            <a:ext cx="3108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CBD3"/>
                </a:solidFill>
              </a:rPr>
              <a:t>Repeat reviewer work and idle engineering time removed; evidence written once.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4846320" y="2788920"/>
            <a:ext cx="3840480" cy="694944"/>
          </a:xfrm>
          <a:prstGeom prst="roundRect">
            <a:avLst>
              <a:gd name="adj" fmla="val 18421"/>
            </a:avLst>
          </a:prstGeom>
          <a:solidFill>
            <a:srgbClr val="1A1A1E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882896" y="2862072"/>
            <a:ext cx="475488" cy="475488"/>
          </a:xfrm>
          <a:prstGeom prst="ellipse">
            <a:avLst/>
          </a:prstGeom>
          <a:solidFill>
            <a:srgbClr val="26262C"/>
          </a:solidFill>
          <a:ln w="6350">
            <a:solidFill>
              <a:srgbClr val="34343B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2962656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468112" y="285292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Revenue timing</a:t>
            </a:r>
            <a:endParaRPr lang="en-US" sz="1150" dirty="0"/>
          </a:p>
        </p:txBody>
      </p:sp>
      <p:sp>
        <p:nvSpPr>
          <p:cNvPr id="20" name="Text 15"/>
          <p:cNvSpPr txBox="1"/>
          <p:nvPr/>
        </p:nvSpPr>
        <p:spPr>
          <a:xfrm>
            <a:off x="5468112" y="3072384"/>
            <a:ext cx="3108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CBD3"/>
                </a:solidFill>
              </a:rPr>
              <a:t>Partner programs and Agent Pay integrations go live sooner; BD quotes dates it can keep.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4846320" y="3566160"/>
            <a:ext cx="3840480" cy="694944"/>
          </a:xfrm>
          <a:prstGeom prst="roundRect">
            <a:avLst>
              <a:gd name="adj" fmla="val 18421"/>
            </a:avLst>
          </a:prstGeom>
          <a:solidFill>
            <a:srgbClr val="1A1A1E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4882896" y="3639312"/>
            <a:ext cx="475488" cy="475488"/>
          </a:xfrm>
          <a:prstGeom prst="ellipse">
            <a:avLst/>
          </a:prstGeom>
          <a:solidFill>
            <a:srgbClr val="26262C"/>
          </a:solidFill>
          <a:ln w="6350">
            <a:solidFill>
              <a:srgbClr val="34343B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3739896"/>
            <a:ext cx="274320" cy="27432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5468112" y="363016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Risk</a:t>
            </a:r>
            <a:endParaRPr lang="en-US" sz="1150" dirty="0"/>
          </a:p>
        </p:txBody>
      </p:sp>
      <p:sp>
        <p:nvSpPr>
          <p:cNvPr id="25" name="Text 19"/>
          <p:cNvSpPr txBox="1"/>
          <p:nvPr/>
        </p:nvSpPr>
        <p:spPr>
          <a:xfrm>
            <a:off x="5468112" y="3849624"/>
            <a:ext cx="3108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CBD3"/>
                </a:solidFill>
              </a:rPr>
              <a:t>Same answer every time, full audit trail, no process restart on attrition.</a:t>
            </a:r>
            <a:endParaRPr lang="en-US" sz="950" dirty="0"/>
          </a:p>
        </p:txBody>
      </p:sp>
      <p:sp>
        <p:nvSpPr>
          <p:cNvPr id="26" name="Text 20"/>
          <p:cNvSpPr txBox="1"/>
          <p:nvPr/>
        </p:nvSpPr>
        <p:spPr>
          <a:xfrm>
            <a:off x="457200" y="46405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8D98"/>
                </a:solidFill>
              </a:rPr>
              <a:t>The prototype counts handoffs removed and minutes per request so a 90-day pilot can price the real savings. Request volume is the first number a pilot confirms.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Our ask: a 90-day pilot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2651760" cy="1463040"/>
          </a:xfrm>
          <a:prstGeom prst="roundRect">
            <a:avLst>
              <a:gd name="adj" fmla="val 8750"/>
            </a:avLst>
          </a:prstGeom>
          <a:solidFill>
            <a:srgbClr val="1A1A1E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898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9E1B"/>
                </a:solidFill>
              </a:rPr>
              <a:t>Days 1 to 30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19072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Load Mastercard's rule catalogue into the schema with the Policy Copilot; security owns the rules.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246120" y="1280160"/>
            <a:ext cx="2651760" cy="1463040"/>
          </a:xfrm>
          <a:prstGeom prst="roundRect">
            <a:avLst>
              <a:gd name="adj" fmla="val 8750"/>
            </a:avLst>
          </a:prstGeom>
          <a:solidFill>
            <a:srgbClr val="1A1A1E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29000" y="13898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9E1B"/>
                </a:solidFill>
              </a:rPr>
              <a:t>Days 31 to 60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1719072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Entra ID Governance approvals in Teams; GitHub environment gate; Defender for Cloud scoring.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035040" y="1280160"/>
            <a:ext cx="2651760" cy="1463040"/>
          </a:xfrm>
          <a:prstGeom prst="roundRect">
            <a:avLst>
              <a:gd name="adj" fmla="val 8750"/>
            </a:avLst>
          </a:prstGeom>
          <a:solidFill>
            <a:srgbClr val="1A1A1E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0" y="13898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9E1B"/>
                </a:solidFill>
              </a:rPr>
              <a:t>Days 61 to 90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719072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Real provisioning through Azure Deployment Environments; Fabric dashboard reports cycle time per program.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926080"/>
            <a:ext cx="8229600" cy="1051560"/>
          </a:xfrm>
          <a:prstGeom prst="roundRect">
            <a:avLst>
              <a:gd name="adj" fmla="val 12174"/>
            </a:avLst>
          </a:prstGeom>
          <a:solidFill>
            <a:srgbClr val="1A1A1E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" y="3054096"/>
            <a:ext cx="548640" cy="548640"/>
          </a:xfrm>
          <a:prstGeom prst="ellipse">
            <a:avLst/>
          </a:prstGeom>
          <a:solidFill>
            <a:srgbClr val="26262C"/>
          </a:solidFill>
          <a:ln w="6350">
            <a:solidFill>
              <a:srgbClr val="34343B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154680"/>
            <a:ext cx="347472" cy="347472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1371600" y="3035808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The ask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32918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BD3"/>
                </a:solidFill>
              </a:rPr>
              <a:t>A sponsor in Business Development and one in Platform Security, one business unit, and the number Discovery could not give us: programs per year. Target in pilot: 12 handoffs to 1 request plus required approvals; readiness from months to days.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4206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79E1B"/>
                </a:solidFill>
              </a:rPr>
              <a:t>Thank you: Microsoft, Mastercard and EY.  Team Garden State: Azra Bano, Melanie, Jayden, Adrian, [Name 5]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unchGate Glow">
  <a:themeElements>
    <a:clrScheme name="LaunchGate Glow">
      <a:dk1>
        <a:srgbClr val="0E0E10"/>
      </a:dk1>
      <a:lt1>
        <a:srgbClr val="FFFFFF"/>
      </a:lt1>
      <a:dk2>
        <a:srgbClr val="1A1A1E"/>
      </a:dk2>
      <a:lt2>
        <a:srgbClr val="C9CBD3"/>
      </a:lt2>
      <a:accent1>
        <a:srgbClr val="F79E1B"/>
      </a:accent1>
      <a:accent2>
        <a:srgbClr val="EB001B"/>
      </a:accent2>
      <a:accent3>
        <a:srgbClr val="FF5F00"/>
      </a:accent3>
      <a:accent4>
        <a:srgbClr val="0078D4"/>
      </a:accent4>
      <a:accent5>
        <a:srgbClr val="2ED573"/>
      </a:accent5>
      <a:accent6>
        <a:srgbClr val="8A8D98"/>
      </a:accent6>
      <a:hlink>
        <a:srgbClr val="F79E1B"/>
      </a:hlink>
      <a:folHlink>
        <a:srgbClr val="F79E1B"/>
      </a:folHlink>
    </a:clrScheme>
    <a:fontScheme name="LaunchGate Glow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LaunchGate</dc:title>
  <dc:subject>PptxGenJS Presentation</dc:subject>
  <dc:creator>Team Garden State</dc:creator>
  <cp:lastModifiedBy>Team Garden State</cp:lastModifiedBy>
  <cp:revision>1</cp:revision>
  <dcterms:created xsi:type="dcterms:W3CDTF">2026-10-12T17:43:37Z</dcterms:created>
  <dcterms:modified xsi:type="dcterms:W3CDTF">2026-10-12T17:43:37Z</dcterms:modified>
</cp:coreProperties>
</file>